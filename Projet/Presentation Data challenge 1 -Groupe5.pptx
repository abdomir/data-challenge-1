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76" r:id="rId3"/>
    <p:sldId id="257" r:id="rId4"/>
    <p:sldId id="258" r:id="rId6"/>
    <p:sldId id="274" r:id="rId7"/>
    <p:sldId id="259" r:id="rId8"/>
    <p:sldId id="261" r:id="rId9"/>
    <p:sldId id="265" r:id="rId10"/>
    <p:sldId id="277" r:id="rId11"/>
    <p:sldId id="266" r:id="rId12"/>
    <p:sldId id="278" r:id="rId13"/>
    <p:sldId id="269" r:id="rId14"/>
    <p:sldId id="279" r:id="rId15"/>
    <p:sldId id="271" r:id="rId16"/>
    <p:sldId id="272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ZoneTexte 13"/>
          <p:cNvSpPr txBox="1"/>
          <p:nvPr/>
        </p:nvSpPr>
        <p:spPr>
          <a:xfrm>
            <a:off x="7803017" y="7256010"/>
            <a:ext cx="10942184" cy="3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0" i="0" u="none" strike="noStrike" cap="none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Année Académique  :2025-2026</a:t>
            </a:r>
            <a:endParaRPr lang="fr-FR" sz="1350" dirty="0"/>
          </a:p>
        </p:txBody>
      </p:sp>
      <p:sp>
        <p:nvSpPr>
          <p:cNvPr id="3" name="ZoneTexte 13"/>
          <p:cNvSpPr txBox="1"/>
          <p:nvPr/>
        </p:nvSpPr>
        <p:spPr>
          <a:xfrm>
            <a:off x="5758815" y="4718685"/>
            <a:ext cx="3296603" cy="3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0" i="0" u="none" strike="noStrike" cap="none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Année Académique  :2025-2026</a:t>
            </a:r>
            <a:endParaRPr lang="fr-FR" sz="1350" dirty="0"/>
          </a:p>
        </p:txBody>
      </p:sp>
      <p:sp>
        <p:nvSpPr>
          <p:cNvPr id="5" name="ZoneTexte 13"/>
          <p:cNvSpPr txBox="1"/>
          <p:nvPr/>
        </p:nvSpPr>
        <p:spPr>
          <a:xfrm>
            <a:off x="7993517" y="7446510"/>
            <a:ext cx="10942184" cy="3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0" i="0" u="none" strike="noStrike" cap="none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Année Académique  :2025-2026</a:t>
            </a:r>
            <a:endParaRPr lang="fr-FR" sz="135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65" y="142875"/>
            <a:ext cx="1965960" cy="1080611"/>
          </a:xfrm>
          <a:prstGeom prst="rect">
            <a:avLst/>
          </a:prstGeom>
        </p:spPr>
      </p:pic>
      <p:sp>
        <p:nvSpPr>
          <p:cNvPr id="7" name="ZoneTexte 13"/>
          <p:cNvSpPr txBox="1"/>
          <p:nvPr/>
        </p:nvSpPr>
        <p:spPr>
          <a:xfrm>
            <a:off x="8088767" y="7541760"/>
            <a:ext cx="10942184" cy="3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50" b="0" i="0" u="none" strike="noStrike" cap="none" dirty="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Année Académique  :2025-2026</a:t>
            </a:r>
            <a:endParaRPr lang="fr-FR" sz="1350" dirty="0"/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74068" y="109538"/>
            <a:ext cx="3003709" cy="1187768"/>
          </a:xfrm>
          <a:prstGeom prst="rect">
            <a:avLst/>
          </a:prstGeom>
        </p:spPr>
      </p:pic>
      <p:sp>
        <p:nvSpPr>
          <p:cNvPr id="10" name="Google Shape;87;p14"/>
          <p:cNvSpPr txBox="1"/>
          <p:nvPr/>
        </p:nvSpPr>
        <p:spPr>
          <a:xfrm>
            <a:off x="1799038" y="1465761"/>
            <a:ext cx="5287796" cy="129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altLang="en-GB" sz="3000" b="1" i="0" u="none" strike="noStrike" cap="none" dirty="0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 Challenge :  </a:t>
            </a:r>
            <a:endParaRPr lang="fr-FR" altLang="en-GB" sz="3000" b="1" i="0" u="none" strike="noStrike" cap="none" dirty="0">
              <a:solidFill>
                <a:schemeClr val="accen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fr-FR" sz="1500" b="1" i="0" u="none" strike="noStrike" cap="none" dirty="0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Analyse  d’un essai clinique </a:t>
            </a:r>
            <a:r>
              <a:rPr lang="fr-FR" altLang="en-US" sz="1500" b="1" i="0" u="none" strike="noStrike" cap="none" dirty="0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</a:t>
            </a:r>
            <a:r>
              <a:rPr lang="en-US" altLang="fr-FR" sz="1500" b="1" i="0" u="none" strike="noStrike" cap="none" dirty="0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BUPNAL  </a:t>
            </a:r>
            <a:r>
              <a:rPr lang="fr-FR" altLang="en-US" sz="1500" b="1" i="0" u="none" strike="noStrike" cap="none" dirty="0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&amp; </a:t>
            </a:r>
            <a:r>
              <a:rPr lang="en-US" altLang="fr-FR" sz="1500" b="1" i="0" u="none" strike="noStrike" cap="none" dirty="0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CLON    </a:t>
            </a:r>
            <a:endParaRPr lang="en-US" altLang="fr-FR" sz="1500" b="1" i="0" u="none" strike="noStrike" cap="none" dirty="0">
              <a:solidFill>
                <a:schemeClr val="accen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fr-FR" sz="1500" b="1" i="0" u="none" strike="noStrike" cap="none" dirty="0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Rôle : Data Scientist</a:t>
            </a:r>
            <a:endParaRPr lang="en-US" altLang="fr-FR" sz="1500" b="1" i="0" u="none" strike="noStrike" cap="none" dirty="0">
              <a:solidFill>
                <a:schemeClr val="accen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ZoneTexte 11"/>
          <p:cNvSpPr txBox="1"/>
          <p:nvPr/>
        </p:nvSpPr>
        <p:spPr>
          <a:xfrm>
            <a:off x="5123082" y="3313748"/>
            <a:ext cx="547120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50" b="1" dirty="0">
                <a:solidFill>
                  <a:schemeClr val="accent1"/>
                </a:solidFill>
              </a:rPr>
              <a:t>Encadré par :  Mr Julien GODET</a:t>
            </a:r>
            <a:endParaRPr lang="fr-FR" sz="1350" b="1" dirty="0">
              <a:solidFill>
                <a:schemeClr val="accent1"/>
              </a:solidFill>
            </a:endParaRPr>
          </a:p>
          <a:p>
            <a:pPr marL="457200" lvl="1" indent="457200"/>
            <a:r>
              <a:rPr lang="fr-FR" sz="1350" b="1" dirty="0">
                <a:solidFill>
                  <a:schemeClr val="accent1"/>
                </a:solidFill>
              </a:rPr>
              <a:t>   Mme </a:t>
            </a:r>
            <a:r>
              <a:rPr lang="en-US" altLang="fr-FR" sz="1350" b="1" dirty="0">
                <a:solidFill>
                  <a:schemeClr val="accent1"/>
                </a:solidFill>
              </a:rPr>
              <a:t>Marianne CORVELLEC </a:t>
            </a:r>
            <a:r>
              <a:rPr lang="fr-FR" sz="1350" b="1" dirty="0">
                <a:solidFill>
                  <a:schemeClr val="accent1"/>
                </a:solidFill>
              </a:rPr>
              <a:t> </a:t>
            </a:r>
            <a:endParaRPr lang="fr-FR" sz="1350" b="1" dirty="0"/>
          </a:p>
        </p:txBody>
      </p:sp>
      <p:sp>
        <p:nvSpPr>
          <p:cNvPr id="2" name="ZoneTexte 10"/>
          <p:cNvSpPr txBox="1"/>
          <p:nvPr/>
        </p:nvSpPr>
        <p:spPr>
          <a:xfrm>
            <a:off x="351790" y="3309203"/>
            <a:ext cx="586740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accent1"/>
                </a:solidFill>
              </a:rPr>
              <a:t>Elaboré par : </a:t>
            </a:r>
            <a:r>
              <a:rPr lang="fr-FR" sz="1400" b="1" dirty="0"/>
              <a:t>Mehdi NEHNANE</a:t>
            </a:r>
            <a:endParaRPr lang="fr-FR" sz="1400" b="1" dirty="0"/>
          </a:p>
          <a:p>
            <a:pPr marL="457200" lvl="1" indent="457200"/>
            <a:r>
              <a:rPr lang="fr-FR" sz="1400" b="1" dirty="0"/>
              <a:t> Cornelius NKRUMAH-BUADII</a:t>
            </a:r>
            <a:endParaRPr lang="fr-FR" sz="1400" b="1" dirty="0"/>
          </a:p>
          <a:p>
            <a:r>
              <a:rPr lang="fr-FR" sz="1400" b="1" dirty="0"/>
              <a:t>	 Mohammed MHAIMID</a:t>
            </a:r>
            <a:endParaRPr lang="fr-FR" sz="1400" b="1" dirty="0"/>
          </a:p>
          <a:p>
            <a:r>
              <a:rPr lang="fr-FR" sz="1400" b="1" dirty="0"/>
              <a:t> 	 Awataf LAMLOUH </a:t>
            </a:r>
            <a:endParaRPr lang="fr-FR" sz="1400" b="1" dirty="0"/>
          </a:p>
          <a:p>
            <a:pPr marL="457200" lvl="1" indent="457200"/>
            <a:r>
              <a:rPr lang="fr-FR" sz="1400" b="1" dirty="0"/>
              <a:t> Abdo MIRGAN</a:t>
            </a:r>
            <a:endParaRPr lang="fr-FR" sz="1400" b="1" dirty="0"/>
          </a:p>
          <a:p>
            <a:r>
              <a:rPr lang="fr-FR" sz="1400" b="1" dirty="0"/>
              <a:t>		   </a:t>
            </a:r>
            <a:endParaRPr lang="en-US" sz="1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7C"/>
                </a:solidFill>
              </a:rPr>
              <a:t>Les 4 </a:t>
            </a:r>
            <a:r>
              <a:rPr lang="fr-FR" altLang="en-US" sz="3200" b="1" dirty="0">
                <a:solidFill>
                  <a:srgbClr val="2C5F7C"/>
                </a:solidFill>
              </a:rPr>
              <a:t>Etapes</a:t>
            </a:r>
            <a:r>
              <a:rPr lang="en-US" sz="3200" b="1" dirty="0">
                <a:solidFill>
                  <a:srgbClr val="2C5F7C"/>
                </a:solidFill>
              </a:rPr>
              <a:t> du Projet</a:t>
            </a:r>
            <a:endParaRPr lang="en-US" sz="320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548640" y="1051560"/>
            <a:ext cx="4023360" cy="1028700"/>
          </a:xfrm>
          <a:prstGeom prst="rect">
            <a:avLst/>
          </a:prstGeom>
          <a:solidFill>
            <a:srgbClr val="E3F2FD"/>
          </a:solidFill>
        </p:spPr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7C"/>
                </a:solidFill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1280160" y="114300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7C"/>
                </a:solidFill>
              </a:rPr>
              <a:t>Flowchart CONSORT</a:t>
            </a:r>
            <a:endParaRPr lang="en-US" sz="1800" dirty="0"/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5029200" y="1051560"/>
            <a:ext cx="4023360" cy="1061085"/>
          </a:xfrm>
          <a:prstGeom prst="rect">
            <a:avLst/>
          </a:prstGeom>
          <a:solidFill>
            <a:srgbClr val="FFF3E0"/>
          </a:solidFill>
        </p:spPr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5166360" y="10972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7C"/>
                </a:solidFill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5760720" y="114300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7C"/>
                </a:solidFill>
              </a:rPr>
              <a:t>Tableau 1 (Baseline)</a:t>
            </a:r>
            <a:endParaRPr lang="en-US" sz="1800" dirty="0"/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548640" y="2834640"/>
            <a:ext cx="4023360" cy="1082675"/>
          </a:xfrm>
          <a:prstGeom prst="rect">
            <a:avLst/>
          </a:prstGeom>
          <a:solidFill>
            <a:srgbClr val="E8F5E9"/>
          </a:solidFill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685800" y="28346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7C"/>
                </a:solidFill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1280160" y="288036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7C"/>
                </a:solidFill>
              </a:rPr>
              <a:t>Tableau 2 (Efficacité)</a:t>
            </a:r>
            <a:endParaRPr lang="en-US" sz="1800" dirty="0"/>
          </a:p>
        </p:txBody>
      </p:sp>
      <p:sp>
        <p:nvSpPr>
          <p:cNvPr id="15" name="Shape 13"/>
          <p:cNvSpPr/>
          <p:nvPr>
            <p:custDataLst>
              <p:tags r:id="rId10"/>
            </p:custDataLst>
          </p:nvPr>
        </p:nvSpPr>
        <p:spPr>
          <a:xfrm>
            <a:off x="5029200" y="2743200"/>
            <a:ext cx="4023360" cy="1180465"/>
          </a:xfrm>
          <a:prstGeom prst="rect">
            <a:avLst/>
          </a:prstGeom>
          <a:solidFill>
            <a:srgbClr val="F3E5F5"/>
          </a:solidFill>
        </p:spPr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5166360" y="28346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7C"/>
                </a:solidFill>
              </a:rPr>
              <a:t>4</a:t>
            </a:r>
            <a:endParaRPr lang="en-US" sz="36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5760720" y="288036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7C"/>
                </a:solidFill>
              </a:rPr>
              <a:t>Figure (</a:t>
            </a:r>
            <a:r>
              <a:rPr lang="fr-FR" altLang="en-US" sz="1800" b="1" dirty="0">
                <a:solidFill>
                  <a:srgbClr val="2C5F7C"/>
                </a:solidFill>
              </a:rPr>
              <a:t>Evolution </a:t>
            </a:r>
            <a:r>
              <a:rPr lang="en-US" sz="1800" b="1" dirty="0">
                <a:solidFill>
                  <a:srgbClr val="2C5F7C"/>
                </a:solidFill>
              </a:rPr>
              <a:t>Rétention)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7C"/>
                </a:solidFill>
              </a:rPr>
              <a:t>Objectif 1 : Flowchart </a:t>
            </a:r>
            <a:r>
              <a:rPr lang="fr-FR" altLang="en-US" sz="3200" b="1" dirty="0">
                <a:solidFill>
                  <a:srgbClr val="2C5F7C"/>
                </a:solidFill>
              </a:rPr>
              <a:t>(Partie 1)</a:t>
            </a:r>
            <a:endParaRPr lang="fr-FR" altLang="en-US" sz="3200" b="1" dirty="0">
              <a:solidFill>
                <a:srgbClr val="2C5F7C"/>
              </a:solidFill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537210" y="903605"/>
            <a:ext cx="425831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fr-FR" sz="1800" b="1"/>
              <a:t>1. </a:t>
            </a:r>
            <a:r>
              <a:rPr lang="en-US" altLang="fr-FR" b="1">
                <a:sym typeface="+mn-ea"/>
              </a:rPr>
              <a:t>BD </a:t>
            </a:r>
            <a:r>
              <a:rPr lang="en-US" altLang="en-US" b="1">
                <a:sym typeface="+mn-ea"/>
              </a:rPr>
              <a:t>→</a:t>
            </a:r>
            <a:r>
              <a:rPr lang="en-US" altLang="fr-FR" b="1">
                <a:sym typeface="+mn-ea"/>
              </a:rPr>
              <a:t> dossier</a:t>
            </a:r>
            <a:r>
              <a:rPr lang="fr-FR" b="1">
                <a:sym typeface="+mn-ea"/>
              </a:rPr>
              <a:t> (</a:t>
            </a:r>
            <a:r>
              <a:rPr lang="en-US" altLang="fr-FR" sz="1800" b="1">
                <a:sym typeface="+mn-ea"/>
              </a:rPr>
              <a:t>Donn</a:t>
            </a:r>
            <a:r>
              <a:rPr lang="en-US" altLang="en-US" sz="1800" b="1">
                <a:sym typeface="+mn-ea"/>
              </a:rPr>
              <a:t>é</a:t>
            </a:r>
            <a:r>
              <a:rPr lang="en-US" altLang="fr-FR" sz="1800" b="1">
                <a:sym typeface="+mn-ea"/>
              </a:rPr>
              <a:t>es</a:t>
            </a:r>
            <a:r>
              <a:rPr lang="fr-FR" altLang="en-US" sz="1800" b="1">
                <a:sym typeface="+mn-ea"/>
              </a:rPr>
              <a:t>demographique</a:t>
            </a:r>
            <a:r>
              <a:rPr lang="fr-FR" altLang="en-US" sz="1800" b="1">
                <a:sym typeface="+mn-ea"/>
              </a:rPr>
              <a:t>) </a:t>
            </a:r>
            <a:endParaRPr lang="fr-FR" altLang="en-US" sz="1800" b="1">
              <a:sym typeface="+mn-ea"/>
            </a:endParaRPr>
          </a:p>
        </p:txBody>
      </p:sp>
      <p:sp>
        <p:nvSpPr>
          <p:cNvPr id="12" name="TextBox 5"/>
          <p:cNvSpPr txBox="1"/>
          <p:nvPr/>
        </p:nvSpPr>
        <p:spPr>
          <a:xfrm>
            <a:off x="571500" y="3397885"/>
            <a:ext cx="876046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/>
              <a:t>7. </a:t>
            </a:r>
            <a:r>
              <a:rPr sz="1800" b="1"/>
              <a:t>Randomisation</a:t>
            </a:r>
            <a:r>
              <a:rPr lang="fr-FR" sz="1800" b="1"/>
              <a:t> par bras de traitement </a:t>
            </a:r>
            <a:r>
              <a:rPr b="1">
                <a:sym typeface="+mn-ea"/>
              </a:rPr>
              <a:t>→</a:t>
            </a:r>
            <a:r>
              <a:rPr lang="fr-FR" sz="1800" b="1"/>
              <a:t> </a:t>
            </a:r>
            <a:r>
              <a:rPr lang="fr-FR" b="1">
                <a:sym typeface="+mn-ea"/>
              </a:rPr>
              <a:t>Filtrer la colonne ARM sur </a:t>
            </a:r>
            <a:r>
              <a:rPr b="1">
                <a:sym typeface="+mn-ea"/>
              </a:rPr>
              <a:t>BUP/NX </a:t>
            </a:r>
            <a:r>
              <a:rPr lang="fr-FR" b="1">
                <a:sym typeface="+mn-ea"/>
              </a:rPr>
              <a:t>et </a:t>
            </a:r>
            <a:r>
              <a:rPr b="1">
                <a:sym typeface="+mn-ea"/>
              </a:rPr>
              <a:t>CLONIDINE</a:t>
            </a:r>
            <a:r>
              <a:rPr lang="fr-FR" b="1">
                <a:sym typeface="+mn-ea"/>
              </a:rPr>
              <a:t> et compter </a:t>
            </a:r>
            <a:r>
              <a:rPr lang="en-US" altLang="fr-FR" sz="1800" b="1">
                <a:sym typeface="+mn-ea"/>
              </a:rPr>
              <a:t>le nombre de sujets par bras de traitement.</a:t>
            </a:r>
            <a:endParaRPr lang="en-US" altLang="fr-FR" sz="1800" b="1">
              <a:sym typeface="+mn-ea"/>
            </a:endParaRPr>
          </a:p>
        </p:txBody>
      </p:sp>
      <p:sp>
        <p:nvSpPr>
          <p:cNvPr id="13" name="TextBox 3"/>
          <p:cNvSpPr txBox="1"/>
          <p:nvPr/>
        </p:nvSpPr>
        <p:spPr>
          <a:xfrm>
            <a:off x="502920" y="2532380"/>
            <a:ext cx="620331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/>
              <a:t> 5. </a:t>
            </a:r>
            <a:r>
              <a:rPr sz="1800" b="1"/>
              <a:t>Non éligibles</a:t>
            </a:r>
            <a:r>
              <a:rPr lang="fr-FR" sz="1800" b="1"/>
              <a:t> </a:t>
            </a:r>
            <a:r>
              <a:rPr b="1">
                <a:sym typeface="+mn-ea"/>
              </a:rPr>
              <a:t>→</a:t>
            </a:r>
            <a:r>
              <a:rPr lang="fr-FR" b="1">
                <a:sym typeface="+mn-ea"/>
              </a:rPr>
              <a:t> Filtrer dm (</a:t>
            </a:r>
            <a:r>
              <a:rPr lang="en-US" altLang="fr-FR" b="1">
                <a:sym typeface="+mn-ea"/>
              </a:rPr>
              <a:t>ARM = SCREEN FAILURE</a:t>
            </a:r>
            <a:r>
              <a:rPr lang="fr-FR" b="1">
                <a:sym typeface="+mn-ea"/>
              </a:rPr>
              <a:t> )</a:t>
            </a:r>
            <a:endParaRPr sz="1800" b="1"/>
          </a:p>
        </p:txBody>
      </p:sp>
      <p:sp>
        <p:nvSpPr>
          <p:cNvPr id="14" name="TextBox 4"/>
          <p:cNvSpPr txBox="1"/>
          <p:nvPr/>
        </p:nvSpPr>
        <p:spPr>
          <a:xfrm>
            <a:off x="571500" y="2953385"/>
            <a:ext cx="728091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/>
              <a:t>6. </a:t>
            </a:r>
            <a:r>
              <a:rPr sz="1800" b="1"/>
              <a:t>Éligibles</a:t>
            </a:r>
            <a:r>
              <a:rPr lang="fr-FR" sz="1800" b="1"/>
              <a:t> (</a:t>
            </a:r>
            <a:r>
              <a:rPr lang="en-US" altLang="fr-FR" sz="1800" b="1"/>
              <a:t>Nombre total de sujets randomis</a:t>
            </a:r>
            <a:r>
              <a:rPr lang="en-US" altLang="en-US" sz="1800" b="1"/>
              <a:t>é</a:t>
            </a:r>
            <a:r>
              <a:rPr lang="en-US" altLang="fr-FR" sz="1800" b="1"/>
              <a:t>s</a:t>
            </a:r>
            <a:r>
              <a:rPr lang="fr-FR" altLang="en-US" sz="1800" b="1"/>
              <a:t>)</a:t>
            </a:r>
            <a:r>
              <a:rPr lang="fr-FR" sz="1800" b="1"/>
              <a:t> </a:t>
            </a:r>
            <a:r>
              <a:rPr sz="1800" b="1"/>
              <a:t>= Screening − Non éligibles</a:t>
            </a:r>
            <a:endParaRPr sz="1800" b="1"/>
          </a:p>
        </p:txBody>
      </p:sp>
      <p:sp>
        <p:nvSpPr>
          <p:cNvPr id="15" name="TextBox 2"/>
          <p:cNvSpPr txBox="1"/>
          <p:nvPr/>
        </p:nvSpPr>
        <p:spPr>
          <a:xfrm>
            <a:off x="537210" y="2164715"/>
            <a:ext cx="672211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fr-FR" sz="1800" b="1"/>
              <a:t>4. </a:t>
            </a:r>
            <a:r>
              <a:rPr sz="1800" b="1"/>
              <a:t>Screening</a:t>
            </a:r>
            <a:r>
              <a:rPr lang="fr-FR" sz="1800" b="1"/>
              <a:t> (Sujets </a:t>
            </a:r>
            <a:r>
              <a:rPr lang="en-US" altLang="en-US" sz="1800" b="1"/>
              <a:t>é</a:t>
            </a:r>
            <a:r>
              <a:rPr lang="en-US" altLang="fr-FR" sz="1800" b="1"/>
              <a:t>valu</a:t>
            </a:r>
            <a:r>
              <a:rPr lang="en-US" altLang="en-US" sz="1800" b="1"/>
              <a:t>é</a:t>
            </a:r>
            <a:r>
              <a:rPr lang="en-US" altLang="fr-FR" sz="1800" b="1"/>
              <a:t>s pour l’</a:t>
            </a:r>
            <a:r>
              <a:rPr lang="en-US" altLang="en-US" sz="1800" b="1"/>
              <a:t>é</a:t>
            </a:r>
            <a:r>
              <a:rPr lang="en-US" altLang="fr-FR" sz="1800" b="1"/>
              <a:t>ligibilit</a:t>
            </a:r>
            <a:r>
              <a:rPr lang="en-US" altLang="en-US" sz="1800" b="1"/>
              <a:t>é</a:t>
            </a:r>
            <a:r>
              <a:rPr lang="fr-FR" altLang="en-US" sz="1800" b="1"/>
              <a:t> )</a:t>
            </a:r>
            <a:r>
              <a:rPr lang="fr-FR" sz="1800" b="1"/>
              <a:t> </a:t>
            </a:r>
            <a:r>
              <a:rPr b="1">
                <a:sym typeface="+mn-ea"/>
              </a:rPr>
              <a:t>→</a:t>
            </a:r>
            <a:r>
              <a:rPr lang="fr-FR" b="1">
                <a:sym typeface="+mn-ea"/>
              </a:rPr>
              <a:t> </a:t>
            </a:r>
            <a:r>
              <a:rPr lang="en-US" altLang="fr-FR" sz="1800" b="1">
                <a:sym typeface="+mn-ea"/>
              </a:rPr>
              <a:t>Comptage des sujets</a:t>
            </a:r>
            <a:endParaRPr lang="en-US" altLang="fr-FR" sz="1800" b="1">
              <a:sym typeface="+mn-ea"/>
            </a:endParaRPr>
          </a:p>
        </p:txBody>
      </p:sp>
      <p:sp>
        <p:nvSpPr>
          <p:cNvPr id="18" name="TextBox 2"/>
          <p:cNvSpPr txBox="1"/>
          <p:nvPr/>
        </p:nvSpPr>
        <p:spPr>
          <a:xfrm>
            <a:off x="537210" y="1323975"/>
            <a:ext cx="549465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fr-FR" sz="1800" b="1"/>
              <a:t>2. Bibliotheque </a:t>
            </a:r>
            <a:r>
              <a:rPr b="1">
                <a:sym typeface="+mn-ea"/>
              </a:rPr>
              <a:t>→</a:t>
            </a:r>
            <a:r>
              <a:rPr lang="fr-FR" sz="1800" b="1"/>
              <a:t> Pandas ( Manipulation des données ) </a:t>
            </a:r>
            <a:endParaRPr lang="fr-FR" sz="1800" b="1">
              <a:sym typeface="+mn-ea"/>
            </a:endParaRPr>
          </a:p>
        </p:txBody>
      </p:sp>
      <p:sp>
        <p:nvSpPr>
          <p:cNvPr id="28" name="TextBox 2"/>
          <p:cNvSpPr txBox="1"/>
          <p:nvPr/>
        </p:nvSpPr>
        <p:spPr>
          <a:xfrm>
            <a:off x="537210" y="1744345"/>
            <a:ext cx="554101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fr-FR" sz="1800" b="1"/>
              <a:t>3. Charger </a:t>
            </a:r>
            <a:r>
              <a:rPr b="1">
                <a:sym typeface="+mn-ea"/>
              </a:rPr>
              <a:t>→</a:t>
            </a:r>
            <a:r>
              <a:rPr lang="fr-FR" sz="1800" b="1"/>
              <a:t> les données démographique (domaine ds)  </a:t>
            </a:r>
            <a:endParaRPr lang="fr-FR" sz="1800" b="1">
              <a:sym typeface="+mn-ea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509270" y="5480050"/>
            <a:ext cx="541464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/>
              <a:t>12. </a:t>
            </a:r>
            <a:r>
              <a:rPr lang="en-US" altLang="fr-FR" sz="1800" b="1"/>
              <a:t>Per Protocol (PP)</a:t>
            </a:r>
            <a:r>
              <a:rPr lang="fr-FR" altLang="en-US" sz="1800" b="1"/>
              <a:t> </a:t>
            </a:r>
            <a:r>
              <a:rPr lang="en-US" altLang="en-US" sz="1800" b="1"/>
              <a:t>→</a:t>
            </a:r>
            <a:r>
              <a:rPr lang="en-US" altLang="fr-FR" sz="1800" b="1"/>
              <a:t> Randomis</a:t>
            </a:r>
            <a:r>
              <a:rPr lang="en-US" altLang="en-US" sz="1800" b="1"/>
              <a:t>é</a:t>
            </a:r>
            <a:r>
              <a:rPr lang="en-US" altLang="fr-FR" sz="1800" b="1"/>
              <a:t>s − Discontinued</a:t>
            </a:r>
            <a:r>
              <a:rPr sz="1800" b="1"/>
              <a:t>
</a:t>
            </a:r>
            <a:endParaRPr sz="18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00050" y="2270125"/>
            <a:ext cx="1815465" cy="28511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lang="fr-FR" sz="1800" b="1"/>
              <a:t>10. </a:t>
            </a:r>
            <a:r>
              <a:rPr lang="en-US" altLang="fr-FR" sz="1800" b="1"/>
              <a:t>Intention-To-Treat (ITT)</a:t>
            </a:r>
            <a:r>
              <a:rPr lang="fr-FR" altLang="en-US" sz="1800" b="1"/>
              <a:t> </a:t>
            </a:r>
            <a:r>
              <a:rPr lang="en-US" altLang="en-US" sz="1800" b="1"/>
              <a:t>→</a:t>
            </a:r>
            <a:r>
              <a:rPr lang="en-US" altLang="fr-FR" sz="1800" b="1"/>
              <a:t> Tous les sujets randomis</a:t>
            </a:r>
            <a:r>
              <a:rPr lang="en-US" altLang="en-US" sz="1800" b="1"/>
              <a:t>é</a:t>
            </a:r>
            <a:r>
              <a:rPr lang="en-US" altLang="fr-FR" sz="1800" b="1"/>
              <a:t>s</a:t>
            </a:r>
            <a:endParaRPr lang="en-US" altLang="fr-FR" sz="1800" b="1"/>
          </a:p>
          <a:p>
            <a:endParaRPr lang="fr-FR" sz="1800" b="1"/>
          </a:p>
        </p:txBody>
      </p:sp>
      <p:sp>
        <p:nvSpPr>
          <p:cNvPr id="4" name="TextBox 3"/>
          <p:cNvSpPr txBox="1"/>
          <p:nvPr/>
        </p:nvSpPr>
        <p:spPr>
          <a:xfrm>
            <a:off x="450215" y="1419860"/>
            <a:ext cx="691070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/>
              <a:t>8. Dataframe utilisé </a:t>
            </a:r>
            <a:r>
              <a:rPr lang="en-US" altLang="en-US" b="1">
                <a:sym typeface="+mn-ea"/>
              </a:rPr>
              <a:t>→</a:t>
            </a:r>
            <a:r>
              <a:rPr lang="fr-FR" altLang="en-US" b="1">
                <a:sym typeface="+mn-ea"/>
              </a:rPr>
              <a:t> </a:t>
            </a:r>
            <a:r>
              <a:rPr lang="fr-FR" sz="1800" b="1"/>
              <a:t>ds (</a:t>
            </a:r>
            <a:r>
              <a:rPr lang="fr-FR" altLang="en-US" sz="1800" b="1"/>
              <a:t>di</a:t>
            </a:r>
            <a:r>
              <a:rPr lang="en-US" altLang="fr-FR" sz="1800" b="1"/>
              <a:t>s</a:t>
            </a:r>
            <a:r>
              <a:rPr lang="fr-FR" altLang="en-US" sz="1800" b="1"/>
              <a:t>position) , </a:t>
            </a:r>
            <a:r>
              <a:rPr lang="en-US" altLang="fr-FR" sz="1800" b="1"/>
              <a:t>Identification des statuts</a:t>
            </a:r>
            <a:r>
              <a:rPr sz="1800" b="1"/>
              <a:t>
</a:t>
            </a:r>
            <a:endParaRPr sz="1800" b="1"/>
          </a:p>
        </p:txBody>
      </p:sp>
      <p:sp>
        <p:nvSpPr>
          <p:cNvPr id="5" name="TextBox 4"/>
          <p:cNvSpPr txBox="1"/>
          <p:nvPr/>
        </p:nvSpPr>
        <p:spPr>
          <a:xfrm>
            <a:off x="451485" y="1826895"/>
            <a:ext cx="7444740" cy="2717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fr-FR" sz="1800" b="1"/>
              <a:t>9. </a:t>
            </a:r>
            <a:r>
              <a:rPr lang="en-US" altLang="fr-FR" sz="1800" b="1"/>
              <a:t>Lost to follow-up (</a:t>
            </a:r>
            <a:r>
              <a:rPr lang="fr-FR" altLang="en-US" sz="1800" b="1"/>
              <a:t>abondant apres phase</a:t>
            </a:r>
            <a:r>
              <a:rPr lang="en-US" altLang="fr-FR" sz="1800" b="1"/>
              <a:t> active</a:t>
            </a:r>
            <a:r>
              <a:rPr lang="fr-FR" altLang="en-US" sz="1800" b="1"/>
              <a:t> </a:t>
            </a:r>
            <a:r>
              <a:rPr lang="en-US" altLang="en-US" sz="1800" b="1"/>
              <a:t>→</a:t>
            </a:r>
            <a:r>
              <a:rPr lang="en-US" altLang="fr-FR" sz="1800" b="1"/>
              <a:t> </a:t>
            </a:r>
            <a:r>
              <a:rPr lang="fr-FR" altLang="en-US" sz="1800" b="1"/>
              <a:t>ds</a:t>
            </a:r>
            <a:r>
              <a:rPr lang="en-US" altLang="fr-FR" sz="1800" b="1"/>
              <a:t> : VISITNUM ≥ 14</a:t>
            </a:r>
            <a:r>
              <a:rPr lang="en-US" altLang="fr-FR" sz="1800" b="1"/>
              <a:t> </a:t>
            </a:r>
            <a:r>
              <a:rPr sz="1800" b="1"/>
              <a:t>
</a:t>
            </a:r>
            <a:endParaRPr sz="1800" b="1"/>
          </a:p>
        </p:txBody>
      </p:sp>
      <p:sp>
        <p:nvSpPr>
          <p:cNvPr id="7" name="TextBox 4"/>
          <p:cNvSpPr txBox="1"/>
          <p:nvPr/>
        </p:nvSpPr>
        <p:spPr>
          <a:xfrm>
            <a:off x="410210" y="2675890"/>
            <a:ext cx="541464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/>
              <a:t>11. </a:t>
            </a:r>
            <a:r>
              <a:rPr lang="en-US" altLang="fr-FR" sz="1800" b="1"/>
              <a:t>Per Protocol (PP)</a:t>
            </a:r>
            <a:r>
              <a:rPr lang="fr-FR" altLang="en-US" sz="1800" b="1"/>
              <a:t> </a:t>
            </a:r>
            <a:r>
              <a:rPr lang="en-US" altLang="en-US" sz="1800" b="1"/>
              <a:t>→</a:t>
            </a:r>
            <a:r>
              <a:rPr lang="en-US" altLang="fr-FR" sz="1800" b="1"/>
              <a:t> Randomis</a:t>
            </a:r>
            <a:r>
              <a:rPr lang="en-US" altLang="en-US" sz="1800" b="1"/>
              <a:t>é</a:t>
            </a:r>
            <a:r>
              <a:rPr lang="en-US" altLang="fr-FR" sz="1800" b="1"/>
              <a:t>s − Discontinued</a:t>
            </a:r>
            <a:r>
              <a:rPr sz="1800" b="1"/>
              <a:t>
</a:t>
            </a:r>
            <a:endParaRPr sz="1800" b="1"/>
          </a:p>
        </p:txBody>
      </p:sp>
      <p:sp>
        <p:nvSpPr>
          <p:cNvPr id="12" name="Zone de texte 11"/>
          <p:cNvSpPr txBox="1"/>
          <p:nvPr/>
        </p:nvSpPr>
        <p:spPr>
          <a:xfrm>
            <a:off x="281940" y="73025"/>
            <a:ext cx="65849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3200" b="1" dirty="0">
                <a:solidFill>
                  <a:srgbClr val="2C5F7C"/>
                </a:solidFill>
                <a:sym typeface="+mn-ea"/>
              </a:rPr>
              <a:t>Objectif 1 : Flowchart </a:t>
            </a:r>
            <a:r>
              <a:rPr lang="fr-FR" altLang="en-US" sz="3200" b="1" dirty="0">
                <a:solidFill>
                  <a:srgbClr val="2C5F7C"/>
                </a:solidFill>
                <a:sym typeface="+mn-ea"/>
              </a:rPr>
              <a:t>(Partie 2)</a:t>
            </a:r>
            <a:endParaRPr lang="fr-FR" altLang="en-US" sz="3200" b="1" dirty="0">
              <a:solidFill>
                <a:srgbClr val="2C5F7C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7C"/>
                </a:solidFill>
              </a:rPr>
              <a:t>Flowchart : Structure Complète</a:t>
            </a:r>
            <a:endParaRPr lang="en-US" sz="2800" dirty="0"/>
          </a:p>
        </p:txBody>
      </p:sp>
      <p:pic>
        <p:nvPicPr>
          <p:cNvPr id="47" name="Image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0" y="794385"/>
            <a:ext cx="8027035" cy="41586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7C"/>
                </a:solidFill>
              </a:rPr>
              <a:t>Objectif 2 : Tableau 1 (Baseline)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90A4"/>
                </a:solidFill>
              </a:rPr>
              <a:t>Stratégie : 4 Bases de Données à Joindre</a:t>
            </a:r>
            <a:endParaRPr lang="en-US" sz="20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640080" y="1371600"/>
            <a:ext cx="3840480" cy="1097280"/>
          </a:xfrm>
          <a:prstGeom prst="rect">
            <a:avLst/>
          </a:prstGeom>
          <a:solidFill>
            <a:srgbClr val="E3F2FD"/>
          </a:solidFill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822960" y="146304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7C"/>
                </a:solidFill>
              </a:rPr>
              <a:t>dm.csv</a:t>
            </a:r>
            <a:endParaRPr lang="en-US" sz="16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822960" y="1737360"/>
            <a:ext cx="3474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Demographics</a:t>
            </a:r>
            <a:endParaRPr lang="en-US" sz="12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822960" y="196596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AGE, SEX, RACE, ETHNIC, ARMCD</a:t>
            </a:r>
            <a:endParaRPr lang="en-US" sz="1100" dirty="0"/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4846320" y="1371600"/>
            <a:ext cx="3840480" cy="1097280"/>
          </a:xfrm>
          <a:prstGeom prst="rect">
            <a:avLst/>
          </a:prstGeom>
          <a:solidFill>
            <a:srgbClr val="FFF3E0"/>
          </a:solidFill>
        </p:spPr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5029200" y="146304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7C"/>
                </a:solidFill>
              </a:rPr>
              <a:t>vs.csv</a:t>
            </a:r>
            <a:endParaRPr lang="en-US" sz="1600" dirty="0"/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5029200" y="1737360"/>
            <a:ext cx="3474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Vital Signs</a:t>
            </a:r>
            <a:endParaRPr lang="en-US" sz="1200" dirty="0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5029200" y="196596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fr-FR" altLang="en-US" sz="1100" dirty="0"/>
              <a:t>dyastole , systole , temperature , frequence cardiaque , respiration par minute </a:t>
            </a:r>
            <a:endParaRPr lang="fr-FR" altLang="en-US" sz="1100" dirty="0"/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640080" y="2743200"/>
            <a:ext cx="3840480" cy="1097280"/>
          </a:xfrm>
          <a:prstGeom prst="rect">
            <a:avLst/>
          </a:prstGeom>
          <a:solidFill>
            <a:srgbClr val="E8F5E9"/>
          </a:solidFill>
        </p:spPr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822960" y="283464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7C"/>
                </a:solidFill>
              </a:rPr>
              <a:t>mh.csv</a:t>
            </a:r>
            <a:endParaRPr lang="en-US" sz="1600" dirty="0"/>
          </a:p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822960" y="3108960"/>
            <a:ext cx="3474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Medical History</a:t>
            </a:r>
            <a:endParaRPr lang="en-US" sz="12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822960" y="333756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fr-FR" altLang="en-US" sz="1100" dirty="0">
                <a:solidFill>
                  <a:srgbClr val="1A1A1A"/>
                </a:solidFill>
              </a:rPr>
              <a:t>Neurologique , cardiovasculaire , psychiatrique</a:t>
            </a:r>
            <a:endParaRPr lang="fr-FR" altLang="en-US" sz="1100" dirty="0"/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4846320" y="2743200"/>
            <a:ext cx="3840480" cy="1097280"/>
          </a:xfrm>
          <a:prstGeom prst="rect">
            <a:avLst/>
          </a:prstGeom>
          <a:solidFill>
            <a:srgbClr val="F3E5F5"/>
          </a:solidFill>
        </p:spPr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5029200" y="283464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7C"/>
                </a:solidFill>
              </a:rPr>
              <a:t>lb.csv</a:t>
            </a:r>
            <a:endParaRPr lang="en-US" sz="16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5029200" y="3108960"/>
            <a:ext cx="3474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Laboratory</a:t>
            </a:r>
            <a:endParaRPr lang="en-US" sz="1200" dirty="0"/>
          </a:p>
        </p:txBody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5029200" y="333756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Test opioïdes baseline (</a:t>
            </a:r>
            <a:r>
              <a:rPr lang="fr-FR" altLang="en-US" sz="1100" dirty="0">
                <a:solidFill>
                  <a:srgbClr val="1A1A1A"/>
                </a:solidFill>
              </a:rPr>
              <a:t>au moin un test positive pour l opioide et la morphine</a:t>
            </a:r>
            <a:r>
              <a:rPr lang="en-US" sz="1100" dirty="0">
                <a:solidFill>
                  <a:srgbClr val="1A1A1A"/>
                </a:solidFill>
              </a:rPr>
              <a:t>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21" name="Text 19"/>
          <p:cNvSpPr/>
          <p:nvPr/>
        </p:nvSpPr>
        <p:spPr>
          <a:xfrm>
            <a:off x="822960" y="4114800"/>
            <a:ext cx="7498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fr-FR" altLang="en-US" sz="1300" b="1" dirty="0">
                <a:solidFill>
                  <a:srgbClr val="000000"/>
                </a:solidFill>
              </a:rPr>
              <a:t>- Utiliser des pivots </a:t>
            </a:r>
            <a:endParaRPr lang="fr-FR" altLang="en-US" sz="13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fr-FR" altLang="en-US" sz="1300" b="1" dirty="0">
                <a:solidFill>
                  <a:srgbClr val="000000"/>
                </a:solidFill>
              </a:rPr>
              <a:t>- Jointure </a:t>
            </a:r>
            <a:endParaRPr lang="fr-FR" altLang="en-US" sz="13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fr-FR" altLang="en-US" sz="1300" b="1" dirty="0">
                <a:solidFill>
                  <a:srgbClr val="000000"/>
                </a:solidFill>
              </a:rPr>
              <a:t>- Resultat : Un seul tableau </a:t>
            </a:r>
            <a:endParaRPr lang="fr-FR" altLang="en-US" sz="13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7C"/>
                </a:solidFill>
              </a:rPr>
              <a:t>Tableau 1 : TableOne</a:t>
            </a:r>
            <a:endParaRPr lang="en-US" sz="28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8545"/>
            <a:ext cx="4159250" cy="225552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060" y="1058545"/>
            <a:ext cx="4123690" cy="2255520"/>
          </a:xfrm>
          <a:prstGeom prst="rect">
            <a:avLst/>
          </a:prstGeom>
        </p:spPr>
      </p:pic>
      <p:sp>
        <p:nvSpPr>
          <p:cNvPr id="9" name="Zone de texte 8"/>
          <p:cNvSpPr txBox="1"/>
          <p:nvPr/>
        </p:nvSpPr>
        <p:spPr>
          <a:xfrm>
            <a:off x="998220" y="3434715"/>
            <a:ext cx="3209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/>
              <a:t>Table one patient hospitaliser</a:t>
            </a:r>
            <a:endParaRPr lang="fr-FR" altLang="en-US"/>
          </a:p>
        </p:txBody>
      </p:sp>
      <p:sp>
        <p:nvSpPr>
          <p:cNvPr id="10" name="Zone de texte 9"/>
          <p:cNvSpPr txBox="1"/>
          <p:nvPr/>
        </p:nvSpPr>
        <p:spPr>
          <a:xfrm>
            <a:off x="5254625" y="3441700"/>
            <a:ext cx="3209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/>
              <a:t>Table one patient ambulatoire</a:t>
            </a:r>
            <a:endParaRPr lang="fr-F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Zone de texte 10"/>
          <p:cNvSpPr txBox="1"/>
          <p:nvPr/>
        </p:nvSpPr>
        <p:spPr>
          <a:xfrm>
            <a:off x="570230" y="1403350"/>
            <a:ext cx="740092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fr-FR"/>
              <a:t>Profil hospitalis</a:t>
            </a:r>
            <a:r>
              <a:rPr lang="en-US" altLang="en-US"/>
              <a:t>é</a:t>
            </a:r>
            <a:r>
              <a:rPr lang="en-US" altLang="fr-FR"/>
              <a:t> (IN)</a:t>
            </a:r>
            <a:endParaRPr lang="en-US" altLang="fr-FR"/>
          </a:p>
          <a:p>
            <a:r>
              <a:rPr lang="en-US" altLang="fr-FR"/>
              <a:t>Population plus jeune et cliniquement plus fragile, avec une vuln</a:t>
            </a:r>
            <a:r>
              <a:rPr lang="en-US" altLang="en-US"/>
              <a:t>é</a:t>
            </a:r>
            <a:r>
              <a:rPr lang="en-US" altLang="fr-FR"/>
              <a:t>rabilit</a:t>
            </a:r>
            <a:r>
              <a:rPr lang="en-US" altLang="en-US"/>
              <a:t>é</a:t>
            </a:r>
            <a:r>
              <a:rPr lang="en-US" altLang="fr-FR"/>
              <a:t> psychiatrique marqu</a:t>
            </a:r>
            <a:r>
              <a:rPr lang="en-US" altLang="en-US"/>
              <a:t>é</a:t>
            </a:r>
            <a:r>
              <a:rPr lang="en-US" altLang="fr-FR"/>
              <a:t>e et une consommation opio</a:t>
            </a:r>
            <a:r>
              <a:rPr lang="en-US" altLang="en-US"/>
              <a:t>ï</a:t>
            </a:r>
            <a:r>
              <a:rPr lang="en-US" altLang="fr-FR"/>
              <a:t>de </a:t>
            </a:r>
            <a:r>
              <a:rPr lang="en-US" altLang="en-US"/>
              <a:t>é</a:t>
            </a:r>
            <a:r>
              <a:rPr lang="en-US" altLang="fr-FR"/>
              <a:t>lev</a:t>
            </a:r>
            <a:r>
              <a:rPr lang="en-US" altLang="en-US"/>
              <a:t>é</a:t>
            </a:r>
            <a:r>
              <a:rPr lang="en-US" altLang="fr-FR"/>
              <a:t>e mais variable, n</a:t>
            </a:r>
            <a:r>
              <a:rPr lang="en-US" altLang="en-US"/>
              <a:t>é</a:t>
            </a:r>
            <a:r>
              <a:rPr lang="en-US" altLang="fr-FR"/>
              <a:t>cessitant une prise en charge rapproch</a:t>
            </a:r>
            <a:r>
              <a:rPr lang="en-US" altLang="en-US"/>
              <a:t>é</a:t>
            </a:r>
            <a:r>
              <a:rPr lang="en-US" altLang="fr-FR"/>
              <a:t>e.</a:t>
            </a:r>
            <a:endParaRPr lang="en-US" altLang="fr-FR"/>
          </a:p>
          <a:p>
            <a:endParaRPr lang="en-US" altLang="fr-FR"/>
          </a:p>
          <a:p>
            <a:r>
              <a:rPr lang="en-US" altLang="fr-FR"/>
              <a:t>Profil ambulatoire (OUT)</a:t>
            </a:r>
            <a:endParaRPr lang="en-US" altLang="fr-FR"/>
          </a:p>
          <a:p>
            <a:r>
              <a:rPr lang="en-US" altLang="fr-FR"/>
              <a:t>Population plus </a:t>
            </a:r>
            <a:r>
              <a:rPr lang="en-US" altLang="en-US"/>
              <a:t>â</a:t>
            </a:r>
            <a:r>
              <a:rPr lang="en-US" altLang="fr-FR"/>
              <a:t>g</a:t>
            </a:r>
            <a:r>
              <a:rPr lang="en-US" altLang="en-US"/>
              <a:t>é</a:t>
            </a:r>
            <a:r>
              <a:rPr lang="en-US" altLang="fr-FR"/>
              <a:t>e, majoritairement masculine, avec une consommation opio</a:t>
            </a:r>
            <a:r>
              <a:rPr lang="en-US" altLang="en-US"/>
              <a:t>ï</a:t>
            </a:r>
            <a:r>
              <a:rPr lang="en-US" altLang="fr-FR"/>
              <a:t>de plus persistante, moins de comorbidit</a:t>
            </a:r>
            <a:r>
              <a:rPr lang="en-US" altLang="en-US"/>
              <a:t>é</a:t>
            </a:r>
            <a:r>
              <a:rPr lang="en-US" altLang="fr-FR"/>
              <a:t>s psychiatriques et une stabilit</a:t>
            </a:r>
            <a:r>
              <a:rPr lang="en-US" altLang="en-US"/>
              <a:t>é</a:t>
            </a:r>
            <a:r>
              <a:rPr lang="en-US" altLang="fr-FR"/>
              <a:t> clinique compatible avec un suivi ambulatoire.</a:t>
            </a:r>
            <a:endParaRPr lang="en-US" altLang="fr-FR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7C"/>
                </a:solidFill>
              </a:rPr>
              <a:t>Tableau 1 : </a:t>
            </a:r>
            <a:r>
              <a:rPr lang="fr-FR" altLang="en-US" sz="2800" b="1" dirty="0">
                <a:solidFill>
                  <a:srgbClr val="2C5F7C"/>
                </a:solidFill>
              </a:rPr>
              <a:t>Interpretation clinique</a:t>
            </a:r>
            <a:endParaRPr lang="fr-FR" altLang="en-US" sz="2800" b="1" dirty="0">
              <a:solidFill>
                <a:srgbClr val="2C5F7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7C"/>
                </a:solidFill>
              </a:rPr>
              <a:t>Objectif 3 : Tableau 2 (Efficacité)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40105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90A4"/>
                </a:solidFill>
              </a:rPr>
              <a:t>Les 2 Critères de Jugement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221105"/>
            <a:ext cx="3657600" cy="1613535"/>
          </a:xfrm>
          <a:prstGeom prst="rect">
            <a:avLst/>
          </a:prstGeom>
          <a:solidFill>
            <a:srgbClr val="E3F2FD"/>
          </a:solidFill>
        </p:spPr>
      </p:sp>
      <p:sp>
        <p:nvSpPr>
          <p:cNvPr id="5" name="Text 3"/>
          <p:cNvSpPr/>
          <p:nvPr/>
        </p:nvSpPr>
        <p:spPr>
          <a:xfrm>
            <a:off x="1097280" y="1228090"/>
            <a:ext cx="329184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800" b="1" dirty="0">
              <a:solidFill>
                <a:srgbClr val="2C5F7C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2C5F7C"/>
                </a:solidFill>
              </a:rPr>
              <a:t>Critère 1 : Visite 13 Atteinte
</a:t>
            </a:r>
            <a:endParaRPr lang="en-US" sz="1800" dirty="0"/>
          </a:p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</a:rPr>
              <a:t>Variable : VISITNUM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Patient a-t-il complété le protocole de 13 jours ?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0" y="1236980"/>
            <a:ext cx="3657600" cy="1597660"/>
          </a:xfrm>
          <a:prstGeom prst="rect">
            <a:avLst/>
          </a:prstGeom>
          <a:solidFill>
            <a:srgbClr val="FFF3E0"/>
          </a:solidFill>
        </p:spPr>
      </p:sp>
      <p:sp>
        <p:nvSpPr>
          <p:cNvPr id="7" name="Text 5"/>
          <p:cNvSpPr/>
          <p:nvPr/>
        </p:nvSpPr>
        <p:spPr>
          <a:xfrm>
            <a:off x="5212080" y="1508760"/>
            <a:ext cx="32918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64B"/>
                </a:solidFill>
              </a:rPr>
              <a:t>Critère 2 : Tests Négatifs
</a:t>
            </a:r>
            <a:endParaRPr lang="en-US" sz="1800" dirty="0"/>
          </a:p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</a:rPr>
              <a:t>Variable : LBORRES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
Tests opioïdes négatifs entre J4 et J13 ?
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→ ABSTINENCE = 1 si tous NEGATIVE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6740" y="3456305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90A4"/>
                </a:solidFill>
              </a:rPr>
              <a:t>Approche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86740" y="3730625"/>
            <a:ext cx="8046720" cy="1438275"/>
          </a:xfrm>
          <a:prstGeom prst="rect">
            <a:avLst/>
          </a:prstGeom>
          <a:solidFill>
            <a:srgbClr val="F8F9FA"/>
          </a:solidFill>
        </p:spPr>
        <p:txBody>
          <a:bodyPr/>
          <a:p>
            <a:endParaRPr lang="fr-FR" altLang="en-US"/>
          </a:p>
        </p:txBody>
      </p:sp>
      <p:sp>
        <p:nvSpPr>
          <p:cNvPr id="10" name="Text 8"/>
          <p:cNvSpPr/>
          <p:nvPr/>
        </p:nvSpPr>
        <p:spPr>
          <a:xfrm>
            <a:off x="822960" y="4038600"/>
            <a:ext cx="7680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1. </a:t>
            </a:r>
            <a:r>
              <a:rPr lang="en-US" sz="1400" dirty="0">
                <a:solidFill>
                  <a:srgbClr val="000000"/>
                </a:solidFill>
              </a:rPr>
              <a:t>Calculer les proportions</a:t>
            </a:r>
            <a:r>
              <a:rPr lang="fr-FR" altLang="en-US" sz="1400" dirty="0">
                <a:solidFill>
                  <a:srgbClr val="000000"/>
                </a:solidFill>
              </a:rPr>
              <a:t> d abstinence </a:t>
            </a:r>
            <a:r>
              <a:rPr lang="en-US" sz="1400" dirty="0">
                <a:solidFill>
                  <a:srgbClr val="000000"/>
                </a:solidFill>
              </a:rPr>
              <a:t> par bras (BUPNAL vs CLON)</a:t>
            </a:r>
            <a:r>
              <a:rPr lang="fr-FR" altLang="en-US" sz="1400" dirty="0">
                <a:solidFill>
                  <a:srgbClr val="000000"/>
                </a:solidFill>
              </a:rPr>
              <a:t> et profil </a:t>
            </a:r>
            <a:r>
              <a:rPr lang="en-US" sz="1400" dirty="0">
                <a:solidFill>
                  <a:srgbClr val="000000"/>
                </a:solidFill>
              </a:rPr>
              <a:t>
</a:t>
            </a:r>
            <a:r>
              <a:rPr lang="en-US" sz="1400" b="1" dirty="0">
                <a:solidFill>
                  <a:srgbClr val="000000"/>
                </a:solidFill>
              </a:rPr>
              <a:t>2. </a:t>
            </a:r>
            <a:r>
              <a:rPr lang="en-US" sz="1400" dirty="0">
                <a:solidFill>
                  <a:srgbClr val="000000"/>
                </a:solidFill>
              </a:rPr>
              <a:t>Test du Chi² pour comparer les proportions
</a:t>
            </a:r>
            <a:r>
              <a:rPr lang="en-US" sz="1400" b="1" dirty="0">
                <a:solidFill>
                  <a:srgbClr val="000000"/>
                </a:solidFill>
              </a:rPr>
              <a:t>3. </a:t>
            </a:r>
            <a:r>
              <a:rPr lang="fr-FR" altLang="en-US" sz="1400" b="1" dirty="0">
                <a:solidFill>
                  <a:srgbClr val="000000"/>
                </a:solidFill>
              </a:rPr>
              <a:t>Construit le tableau et comparer </a:t>
            </a:r>
            <a:endParaRPr lang="fr-FR" altLang="en-US" sz="1400" b="1" dirty="0">
              <a:solidFill>
                <a:srgbClr val="000000"/>
              </a:solidFill>
            </a:endParaRPr>
          </a:p>
        </p:txBody>
      </p:sp>
      <p:sp>
        <p:nvSpPr>
          <p:cNvPr id="12" name="Zone de texte 11"/>
          <p:cNvSpPr txBox="1"/>
          <p:nvPr/>
        </p:nvSpPr>
        <p:spPr>
          <a:xfrm>
            <a:off x="973455" y="2856865"/>
            <a:ext cx="45720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sym typeface="+mn-ea"/>
              </a:rPr>
              <a:t>→ RETENTION_J13 = 1 si VISITNUM ≥ 13</a:t>
            </a:r>
            <a:endParaRPr lang="en-US" altLang="en-US" sz="1300" dirty="0">
              <a:solidFill>
                <a:srgbClr val="00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7C"/>
                </a:solidFill>
              </a:rPr>
              <a:t>Objectif 3 : Tableau 2 (</a:t>
            </a:r>
            <a:r>
              <a:rPr lang="fr-FR" altLang="en-US" sz="3200" b="1" dirty="0">
                <a:solidFill>
                  <a:srgbClr val="2C5F7C"/>
                </a:solidFill>
              </a:rPr>
              <a:t>Resultat</a:t>
            </a:r>
            <a:r>
              <a:rPr lang="en-US" sz="3200" b="1" dirty="0">
                <a:solidFill>
                  <a:srgbClr val="2C5F7C"/>
                </a:solidFill>
              </a:rPr>
              <a:t>)</a:t>
            </a:r>
            <a:endParaRPr lang="en-US" sz="32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50950"/>
            <a:ext cx="7972425" cy="1647825"/>
          </a:xfrm>
          <a:prstGeom prst="rect">
            <a:avLst/>
          </a:prstGeom>
        </p:spPr>
      </p:pic>
      <p:sp>
        <p:nvSpPr>
          <p:cNvPr id="4" name="Zone de texte 3"/>
          <p:cNvSpPr txBox="1"/>
          <p:nvPr/>
        </p:nvSpPr>
        <p:spPr>
          <a:xfrm>
            <a:off x="272415" y="3054985"/>
            <a:ext cx="8427085" cy="1905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fr-FR" altLang="en-US" b="1"/>
              <a:t>Interpretation : </a:t>
            </a:r>
            <a:r>
              <a:rPr lang="en-US" altLang="fr-FR"/>
              <a:t>Chez les patients hospitalis</a:t>
            </a:r>
            <a:r>
              <a:rPr lang="en-US" altLang="en-US"/>
              <a:t>é</a:t>
            </a:r>
            <a:r>
              <a:rPr lang="en-US" altLang="fr-FR"/>
              <a:t>s (IN) comme ambulatoires (OUT), l’abstinence est plus </a:t>
            </a:r>
            <a:r>
              <a:rPr lang="en-US" altLang="en-US"/>
              <a:t>é</a:t>
            </a:r>
            <a:r>
              <a:rPr lang="en-US" altLang="fr-FR"/>
              <a:t>lev</a:t>
            </a:r>
            <a:r>
              <a:rPr lang="en-US" altLang="en-US"/>
              <a:t>é</a:t>
            </a:r>
            <a:r>
              <a:rPr lang="en-US" altLang="fr-FR"/>
              <a:t>e sous BUPNAL que sous CLON, mais les diff</a:t>
            </a:r>
            <a:r>
              <a:rPr lang="en-US" altLang="en-US"/>
              <a:t>é</a:t>
            </a:r>
            <a:r>
              <a:rPr lang="en-US" altLang="fr-FR"/>
              <a:t>rences observ</a:t>
            </a:r>
            <a:r>
              <a:rPr lang="en-US" altLang="en-US"/>
              <a:t>é</a:t>
            </a:r>
            <a:r>
              <a:rPr lang="en-US" altLang="fr-FR"/>
              <a:t>es ne sont pas statistiquement significatives (IN : +5,5 %, p = 0,62 ; OUT : +4,4 %, p = 0,29).</a:t>
            </a:r>
            <a:endParaRPr lang="en-US" altLang="fr-FR" b="1"/>
          </a:p>
          <a:p>
            <a:r>
              <a:rPr lang="fr-FR" altLang="en-US" b="1"/>
              <a:t>Conclusion : </a:t>
            </a:r>
            <a:r>
              <a:rPr lang="en-US" altLang="fr-FR"/>
              <a:t>Dans les deux profils, la bupr</a:t>
            </a:r>
            <a:r>
              <a:rPr lang="en-US" altLang="en-US"/>
              <a:t>é</a:t>
            </a:r>
            <a:r>
              <a:rPr lang="en-US" altLang="fr-FR"/>
              <a:t>norphine/naloxone montre des taux d’abstinence plus </a:t>
            </a:r>
            <a:r>
              <a:rPr lang="en-US" altLang="en-US"/>
              <a:t>é</a:t>
            </a:r>
            <a:r>
              <a:rPr lang="en-US" altLang="fr-FR"/>
              <a:t>lev</a:t>
            </a:r>
            <a:r>
              <a:rPr lang="en-US" altLang="en-US"/>
              <a:t>é</a:t>
            </a:r>
            <a:r>
              <a:rPr lang="en-US" altLang="fr-FR"/>
              <a:t>s que la clonidine, mais cette diff</a:t>
            </a:r>
            <a:r>
              <a:rPr lang="en-US" altLang="en-US"/>
              <a:t>é</a:t>
            </a:r>
            <a:r>
              <a:rPr lang="en-US" altLang="fr-FR"/>
              <a:t>rence n’est pas statistiquement significative (p &gt; 0,05 ; IC 95 % incluant 0) et peut donc </a:t>
            </a:r>
            <a:r>
              <a:rPr lang="en-US" altLang="en-US"/>
              <a:t>ê</a:t>
            </a:r>
            <a:r>
              <a:rPr lang="en-US" altLang="fr-FR"/>
              <a:t>tre attribu</a:t>
            </a:r>
            <a:r>
              <a:rPr lang="en-US" altLang="en-US"/>
              <a:t>é</a:t>
            </a:r>
            <a:r>
              <a:rPr lang="en-US" altLang="fr-FR"/>
              <a:t>e au hasard.</a:t>
            </a:r>
            <a:endParaRPr lang="en-US" alt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7C"/>
                </a:solidFill>
              </a:rPr>
              <a:t>Objectif 4 : Figure de Rétention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fr-FR" altLang="en-US" sz="2000" b="1" dirty="0">
                <a:solidFill>
                  <a:srgbClr val="4A90A4"/>
                </a:solidFill>
              </a:rPr>
              <a:t>Etape </a:t>
            </a:r>
            <a:endParaRPr lang="fr-FR" altLang="en-US" sz="2000" b="1" dirty="0">
              <a:solidFill>
                <a:srgbClr val="4A90A4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1565910"/>
            <a:ext cx="3474720" cy="25107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
1. </a:t>
            </a:r>
            <a:r>
              <a:rPr lang="en-US" altLang="fr-FR" sz="1200" dirty="0"/>
              <a:t>Identification des patients et de leur profil (IN/OUT) à partir du domaine DM.</a:t>
            </a:r>
            <a:endParaRPr lang="en-US" altLang="fr-FR" sz="1200" dirty="0"/>
          </a:p>
          <a:p>
            <a:pPr marL="0" indent="0">
              <a:buNone/>
            </a:pPr>
            <a:endParaRPr lang="en-US" altLang="fr-FR" sz="1200" dirty="0"/>
          </a:p>
          <a:p>
            <a:pPr marL="0" indent="0">
              <a:buNone/>
            </a:pPr>
            <a:r>
              <a:rPr lang="fr-FR" altLang="en-US" sz="1200" dirty="0"/>
              <a:t>2. </a:t>
            </a:r>
            <a:r>
              <a:rPr lang="en-US" altLang="fr-FR" sz="1200" dirty="0"/>
              <a:t>S</a:t>
            </a:r>
            <a:r>
              <a:rPr lang="en-US" altLang="en-US" sz="1200" dirty="0"/>
              <a:t>é</a:t>
            </a:r>
            <a:r>
              <a:rPr lang="en-US" altLang="fr-FR" sz="1200" dirty="0"/>
              <a:t>lection des patients suivis au cours du temps via le domaine EX, limit</a:t>
            </a:r>
            <a:r>
              <a:rPr lang="en-US" altLang="en-US" sz="1200" dirty="0"/>
              <a:t>é</a:t>
            </a:r>
            <a:r>
              <a:rPr lang="en-US" altLang="fr-FR" sz="1200" dirty="0"/>
              <a:t>e aux bras BUP et CLO.</a:t>
            </a:r>
            <a:endParaRPr lang="en-US" altLang="fr-FR" sz="1200" dirty="0"/>
          </a:p>
          <a:p>
            <a:pPr marL="0" indent="0">
              <a:buNone/>
            </a:pPr>
            <a:endParaRPr lang="en-US" altLang="fr-FR" sz="1200" dirty="0"/>
          </a:p>
          <a:p>
            <a:pPr marL="0" indent="0">
              <a:buNone/>
            </a:pPr>
            <a:r>
              <a:rPr lang="fr-FR" altLang="en-US" sz="1200" dirty="0"/>
              <a:t>2. </a:t>
            </a:r>
            <a:r>
              <a:rPr lang="en-US" altLang="fr-FR" sz="1200" dirty="0"/>
              <a:t>Calcul du nombre de patients pr</a:t>
            </a:r>
            <a:r>
              <a:rPr lang="en-US" altLang="en-US" sz="1200" dirty="0"/>
              <a:t>é</a:t>
            </a:r>
            <a:r>
              <a:rPr lang="en-US" altLang="fr-FR" sz="1200" dirty="0"/>
              <a:t>sents à chaque visite (Nt) et du nombre initial (N0).</a:t>
            </a:r>
            <a:endParaRPr lang="en-US" altLang="fr-FR" sz="1200" dirty="0"/>
          </a:p>
          <a:p>
            <a:pPr marL="0" indent="0">
              <a:buNone/>
            </a:pPr>
            <a:endParaRPr lang="en-US" altLang="fr-FR" sz="1200" dirty="0"/>
          </a:p>
          <a:p>
            <a:pPr marL="0" indent="0">
              <a:buNone/>
            </a:pPr>
            <a:r>
              <a:rPr lang="fr-FR" altLang="en-US" sz="1200" dirty="0"/>
              <a:t>3. </a:t>
            </a:r>
            <a:r>
              <a:rPr lang="en-US" altLang="fr-FR" sz="1200" dirty="0"/>
              <a:t>Calcul de la proportion de r</a:t>
            </a:r>
            <a:r>
              <a:rPr lang="en-US" altLang="en-US" sz="1200" dirty="0"/>
              <a:t>é</a:t>
            </a:r>
            <a:r>
              <a:rPr lang="en-US" altLang="fr-FR" sz="1200" dirty="0"/>
              <a:t>tention (Nt / N0) pour chaque bras et profil.</a:t>
            </a:r>
            <a:endParaRPr lang="en-US" altLang="fr-FR" sz="1200" dirty="0"/>
          </a:p>
          <a:p>
            <a:pPr marL="0" indent="0">
              <a:buNone/>
            </a:pPr>
            <a:endParaRPr lang="en-US" altLang="fr-FR" sz="1200" dirty="0"/>
          </a:p>
          <a:p>
            <a:pPr marL="0" indent="0">
              <a:buNone/>
            </a:pPr>
            <a:r>
              <a:rPr lang="fr-FR" altLang="en-US" sz="1200" dirty="0"/>
              <a:t>4. </a:t>
            </a:r>
            <a:r>
              <a:rPr lang="en-US" altLang="fr-FR" sz="1200" dirty="0"/>
              <a:t>Repr</a:t>
            </a:r>
            <a:r>
              <a:rPr lang="en-US" altLang="en-US" sz="1200" dirty="0"/>
              <a:t>é</a:t>
            </a:r>
            <a:r>
              <a:rPr lang="en-US" altLang="fr-FR" sz="1200" dirty="0"/>
              <a:t>sentation graphique de l’</a:t>
            </a:r>
            <a:r>
              <a:rPr lang="en-US" altLang="en-US" sz="1200" dirty="0"/>
              <a:t>é</a:t>
            </a:r>
            <a:r>
              <a:rPr lang="en-US" altLang="fr-FR" sz="1200" dirty="0"/>
              <a:t>volution de la r</a:t>
            </a:r>
            <a:r>
              <a:rPr lang="en-US" altLang="en-US" sz="1200" dirty="0"/>
              <a:t>é</a:t>
            </a:r>
            <a:r>
              <a:rPr lang="en-US" altLang="fr-FR" sz="1200" dirty="0"/>
              <a:t>tention selon le temps, le bras de traitement et le profil patient.</a:t>
            </a:r>
            <a:endParaRPr lang="en-US" altLang="fr-FR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7C"/>
                </a:solidFill>
              </a:rPr>
              <a:t>Objectif 4 : Figure de Rétention</a:t>
            </a:r>
            <a:endParaRPr lang="en-US" sz="3200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445" y="1022350"/>
            <a:ext cx="6787515" cy="2537460"/>
          </a:xfrm>
          <a:prstGeom prst="rect">
            <a:avLst/>
          </a:prstGeom>
        </p:spPr>
      </p:pic>
      <p:sp>
        <p:nvSpPr>
          <p:cNvPr id="3" name="Zone de texte 2"/>
          <p:cNvSpPr txBox="1"/>
          <p:nvPr/>
        </p:nvSpPr>
        <p:spPr>
          <a:xfrm>
            <a:off x="316865" y="3850640"/>
            <a:ext cx="80232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fr-FR"/>
              <a:t>La figure montre une diminution progressive de la r</a:t>
            </a:r>
            <a:r>
              <a:rPr lang="en-US" altLang="en-US"/>
              <a:t>é</a:t>
            </a:r>
            <a:r>
              <a:rPr lang="en-US" altLang="fr-FR"/>
              <a:t>tention au cours du suivi, avec une r</a:t>
            </a:r>
            <a:r>
              <a:rPr lang="en-US" altLang="en-US"/>
              <a:t>é</a:t>
            </a:r>
            <a:r>
              <a:rPr lang="en-US" altLang="fr-FR"/>
              <a:t>tention globalement plus </a:t>
            </a:r>
            <a:r>
              <a:rPr lang="en-US" altLang="en-US"/>
              <a:t>é</a:t>
            </a:r>
            <a:r>
              <a:rPr lang="en-US" altLang="fr-FR"/>
              <a:t>lev</a:t>
            </a:r>
            <a:r>
              <a:rPr lang="en-US" altLang="en-US"/>
              <a:t>é</a:t>
            </a:r>
            <a:r>
              <a:rPr lang="en-US" altLang="fr-FR"/>
              <a:t>e chez les patients sous BUPNAL et chez les hospitalis</a:t>
            </a:r>
            <a:r>
              <a:rPr lang="en-US" altLang="en-US"/>
              <a:t>é</a:t>
            </a:r>
            <a:r>
              <a:rPr lang="en-US" altLang="fr-FR"/>
              <a:t>s par rapport à la clonidine et au suivi ambulatoire, sugg</a:t>
            </a:r>
            <a:r>
              <a:rPr lang="en-US" altLang="en-US"/>
              <a:t>é</a:t>
            </a:r>
            <a:r>
              <a:rPr lang="en-US" altLang="fr-FR"/>
              <a:t>rant un meilleur maintien dans le protocole dans ces groupes.</a:t>
            </a:r>
            <a:endParaRPr lang="fr-F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fr-FR" altLang="en-US" sz="3200" b="1" dirty="0">
                <a:solidFill>
                  <a:srgbClr val="2C5F7C"/>
                </a:solidFill>
              </a:rPr>
              <a:t>Conclusion generale</a:t>
            </a:r>
            <a:endParaRPr lang="en-US" sz="320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548640" y="1254760"/>
            <a:ext cx="8046720" cy="777240"/>
          </a:xfrm>
          <a:prstGeom prst="rect">
            <a:avLst/>
          </a:prstGeom>
          <a:solidFill>
            <a:srgbClr val="E3F2FD"/>
          </a:solidFill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548640" y="2123440"/>
            <a:ext cx="8046720" cy="777240"/>
          </a:xfrm>
          <a:prstGeom prst="rect">
            <a:avLst/>
          </a:prstGeom>
          <a:solidFill>
            <a:srgbClr val="FFF3E0"/>
          </a:solidFill>
        </p:spPr>
      </p:sp>
      <p:sp>
        <p:nvSpPr>
          <p:cNvPr id="11" name="Shape 9"/>
          <p:cNvSpPr/>
          <p:nvPr>
            <p:custDataLst>
              <p:tags r:id="rId3"/>
            </p:custDataLst>
          </p:nvPr>
        </p:nvSpPr>
        <p:spPr>
          <a:xfrm>
            <a:off x="548640" y="2992120"/>
            <a:ext cx="8046720" cy="777240"/>
          </a:xfrm>
          <a:prstGeom prst="rect">
            <a:avLst/>
          </a:prstGeom>
          <a:solidFill>
            <a:srgbClr val="E3F2FD"/>
          </a:solidFill>
        </p:spPr>
      </p:sp>
      <p:sp>
        <p:nvSpPr>
          <p:cNvPr id="21" name="Zone de texte 20"/>
          <p:cNvSpPr txBox="1"/>
          <p:nvPr/>
        </p:nvSpPr>
        <p:spPr>
          <a:xfrm>
            <a:off x="765175" y="1386840"/>
            <a:ext cx="68021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fr-FR"/>
              <a:t> La Figure 1 montre une meilleure r</a:t>
            </a:r>
            <a:r>
              <a:rPr lang="en-US" altLang="en-US"/>
              <a:t>é</a:t>
            </a:r>
            <a:r>
              <a:rPr lang="en-US" altLang="fr-FR"/>
              <a:t>tention sous BUPNAL par rapport à la Clonidine, chez les patients IN comme OUT.</a:t>
            </a:r>
            <a:endParaRPr lang="en-US" altLang="fr-FR"/>
          </a:p>
        </p:txBody>
      </p:sp>
      <p:sp>
        <p:nvSpPr>
          <p:cNvPr id="22" name="Zone de texte 21"/>
          <p:cNvSpPr txBox="1"/>
          <p:nvPr/>
        </p:nvSpPr>
        <p:spPr>
          <a:xfrm>
            <a:off x="765175" y="2123440"/>
            <a:ext cx="79343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fr-FR"/>
              <a:t>Aucune diff</a:t>
            </a:r>
            <a:r>
              <a:rPr lang="en-US" altLang="en-US"/>
              <a:t>é</a:t>
            </a:r>
            <a:r>
              <a:rPr lang="en-US" altLang="fr-FR"/>
              <a:t>rence statistiquement significative n’est observ</a:t>
            </a:r>
            <a:r>
              <a:rPr lang="en-US" altLang="en-US"/>
              <a:t>é</a:t>
            </a:r>
            <a:r>
              <a:rPr lang="en-US" altLang="fr-FR"/>
              <a:t>e (p-values &gt; 0,05, IC 95 % incluant 0).</a:t>
            </a:r>
            <a:r>
              <a:rPr lang="fr-FR" altLang="en-US"/>
              <a:t> </a:t>
            </a:r>
            <a:r>
              <a:rPr lang="en-US" altLang="fr-FR"/>
              <a:t>Les </a:t>
            </a:r>
            <a:r>
              <a:rPr lang="en-US" altLang="en-US"/>
              <a:t>é</a:t>
            </a:r>
            <a:r>
              <a:rPr lang="en-US" altLang="fr-FR"/>
              <a:t>carts observ</a:t>
            </a:r>
            <a:r>
              <a:rPr lang="en-US" altLang="en-US"/>
              <a:t>é</a:t>
            </a:r>
            <a:r>
              <a:rPr lang="en-US" altLang="fr-FR"/>
              <a:t>s peuvent donc </a:t>
            </a:r>
            <a:r>
              <a:rPr lang="en-US" altLang="en-US"/>
              <a:t>ê</a:t>
            </a:r>
            <a:r>
              <a:rPr lang="en-US" altLang="fr-FR"/>
              <a:t>tre attribu</a:t>
            </a:r>
            <a:r>
              <a:rPr lang="en-US" altLang="en-US"/>
              <a:t>é</a:t>
            </a:r>
            <a:r>
              <a:rPr lang="en-US" altLang="fr-FR"/>
              <a:t>s au hasard.</a:t>
            </a:r>
            <a:endParaRPr lang="en-US" altLang="fr-FR"/>
          </a:p>
        </p:txBody>
      </p:sp>
      <p:sp>
        <p:nvSpPr>
          <p:cNvPr id="23" name="Zone de texte 22"/>
          <p:cNvSpPr txBox="1"/>
          <p:nvPr/>
        </p:nvSpPr>
        <p:spPr>
          <a:xfrm>
            <a:off x="765175" y="3058160"/>
            <a:ext cx="67703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fr-FR"/>
              <a:t>Le d</a:t>
            </a:r>
            <a:r>
              <a:rPr lang="en-US" altLang="en-US"/>
              <a:t>é</a:t>
            </a:r>
            <a:r>
              <a:rPr lang="en-US" altLang="fr-FR"/>
              <a:t>s</a:t>
            </a:r>
            <a:r>
              <a:rPr lang="en-US" altLang="en-US"/>
              <a:t>é</a:t>
            </a:r>
            <a:r>
              <a:rPr lang="en-US" altLang="fr-FR"/>
              <a:t>quilibre des effectifs (ratio 2:1) a probablement r</a:t>
            </a:r>
            <a:r>
              <a:rPr lang="en-US" altLang="en-US"/>
              <a:t>é</a:t>
            </a:r>
            <a:r>
              <a:rPr lang="en-US" altLang="fr-FR"/>
              <a:t>duit la puissance statistique, limitant la d</a:t>
            </a:r>
            <a:r>
              <a:rPr lang="en-US" altLang="en-US"/>
              <a:t>é</a:t>
            </a:r>
            <a:r>
              <a:rPr lang="en-US" altLang="fr-FR"/>
              <a:t>tection d’une  diff</a:t>
            </a:r>
            <a:r>
              <a:rPr lang="en-US" altLang="en-US"/>
              <a:t>é</a:t>
            </a:r>
            <a:r>
              <a:rPr lang="en-US" altLang="fr-FR"/>
              <a:t>rence r</a:t>
            </a:r>
            <a:r>
              <a:rPr lang="en-US" altLang="en-US"/>
              <a:t>é</a:t>
            </a:r>
            <a:r>
              <a:rPr lang="en-US" altLang="fr-FR"/>
              <a:t>elle.</a:t>
            </a:r>
            <a:endParaRPr lang="en-US" altLang="fr-F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Merci de votre attention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Questions ?</a:t>
            </a:r>
            <a:endParaRPr lang="en-US" sz="2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9.2,&quot;left&quot;:43.2,&quot;top&quot;:79.2,&quot;width&quot;:669.6}"/>
</p:tagLst>
</file>

<file path=ppt/tags/tag2.xml><?xml version="1.0" encoding="utf-8"?>
<p:tagLst xmlns:p="http://schemas.openxmlformats.org/presentationml/2006/main">
  <p:tag name="KSO_WM_DIAGRAM_VIRTUALLY_FRAME" val="{&quot;height&quot;:259.2,&quot;left&quot;:43.2,&quot;top&quot;:79.2,&quot;width&quot;:669.6}"/>
</p:tagLst>
</file>

<file path=ppt/tags/tag3.xml><?xml version="1.0" encoding="utf-8"?>
<p:tagLst xmlns:p="http://schemas.openxmlformats.org/presentationml/2006/main">
  <p:tag name="KSO_WM_DIAGRAM_VIRTUALLY_FRAME" val="{&quot;height&quot;:259.2,&quot;left&quot;:43.2,&quot;top&quot;:79.2,&quot;width&quot;:669.6}"/>
</p:tagLst>
</file>

<file path=ppt/tags/tag4.xml><?xml version="1.0" encoding="utf-8"?>
<p:tagLst xmlns:p="http://schemas.openxmlformats.org/presentationml/2006/main">
  <p:tag name="KSO_WM_DIAGRAM_VIRTUALLY_FRAME" val="{&quot;height&quot;:259.2,&quot;left&quot;:43.2,&quot;top&quot;:79.2,&quot;width&quot;:669.6}"/>
</p:tagLst>
</file>

<file path=ppt/tags/tag5.xml><?xml version="1.0" encoding="utf-8"?>
<p:tagLst xmlns:p="http://schemas.openxmlformats.org/presentationml/2006/main">
  <p:tag name="KSO_WM_DIAGRAM_VIRTUALLY_FRAME" val="{&quot;height&quot;:259.2,&quot;left&quot;:43.2,&quot;top&quot;:79.2,&quot;width&quot;:669.6}"/>
</p:tagLst>
</file>

<file path=ppt/tags/tag6.xml><?xml version="1.0" encoding="utf-8"?>
<p:tagLst xmlns:p="http://schemas.openxmlformats.org/presentationml/2006/main">
  <p:tag name="KSO_WM_DIAGRAM_VIRTUALLY_FRAME" val="{&quot;height&quot;:259.2,&quot;left&quot;:43.2,&quot;top&quot;:79.2,&quot;width&quot;:669.6}"/>
</p:tagLst>
</file>

<file path=ppt/tags/tag7.xml><?xml version="1.0" encoding="utf-8"?>
<p:tagLst xmlns:p="http://schemas.openxmlformats.org/presentationml/2006/main">
  <p:tag name="KSO_WM_DIAGRAM_VIRTUALLY_FRAME" val="{&quot;height&quot;:259.2,&quot;left&quot;:43.2,&quot;top&quot;:79.2,&quot;width&quot;:669.6}"/>
</p:tagLst>
</file>

<file path=ppt/tags/tag8.xml><?xml version="1.0" encoding="utf-8"?>
<p:tagLst xmlns:p="http://schemas.openxmlformats.org/presentationml/2006/main">
  <p:tag name="KSO_WM_DIAGRAM_VIRTUALLY_FRAME" val="{&quot;height&quot;:259.2,&quot;left&quot;:43.2,&quot;top&quot;:79.2,&quot;width&quot;:669.6}"/>
</p:tagLst>
</file>

<file path=ppt/tags/tag9.xml><?xml version="1.0" encoding="utf-8"?>
<p:tagLst xmlns:p="http://schemas.openxmlformats.org/presentationml/2006/main">
  <p:tag name="KSO_WM_DIAGRAM_VIRTUALLY_FRAME" val="{&quot;height&quot;:259.2,&quot;left&quot;:43.2,&quot;top&quot;:79.2,&quot;width&quot;:669.6}"/>
</p:tagLst>
</file>

<file path=ppt/tags/tag10.xml><?xml version="1.0" encoding="utf-8"?>
<p:tagLst xmlns:p="http://schemas.openxmlformats.org/presentationml/2006/main">
  <p:tag name="KSO_WM_DIAGRAM_VIRTUALLY_FRAME" val="{&quot;height&quot;:259.2,&quot;left&quot;:43.2,&quot;top&quot;:79.2,&quot;width&quot;:669.6}"/>
</p:tagLst>
</file>

<file path=ppt/tags/tag11.xml><?xml version="1.0" encoding="utf-8"?>
<p:tagLst xmlns:p="http://schemas.openxmlformats.org/presentationml/2006/main">
  <p:tag name="KSO_WM_DIAGRAM_VIRTUALLY_FRAME" val="{&quot;height&quot;:259.2,&quot;left&quot;:43.2,&quot;top&quot;:79.2,&quot;width&quot;:669.6}"/>
</p:tagLst>
</file>

<file path=ppt/tags/tag12.xml><?xml version="1.0" encoding="utf-8"?>
<p:tagLst xmlns:p="http://schemas.openxmlformats.org/presentationml/2006/main">
  <p:tag name="KSO_WM_DIAGRAM_VIRTUALLY_FRAME" val="{&quot;height&quot;:259.2,&quot;left&quot;:43.2,&quot;top&quot;:79.2,&quot;width&quot;:669.6}"/>
</p:tagLst>
</file>

<file path=ppt/tags/tag13.xml><?xml version="1.0" encoding="utf-8"?>
<p:tagLst xmlns:p="http://schemas.openxmlformats.org/presentationml/2006/main">
  <p:tag name="KSO_WM_DIAGRAM_VIRTUALLY_FRAME" val="{&quot;height&quot;:194.4,&quot;left&quot;:50.4,&quot;top&quot;:108,&quot;width&quot;:633.6}"/>
</p:tagLst>
</file>

<file path=ppt/tags/tag14.xml><?xml version="1.0" encoding="utf-8"?>
<p:tagLst xmlns:p="http://schemas.openxmlformats.org/presentationml/2006/main">
  <p:tag name="KSO_WM_DIAGRAM_VIRTUALLY_FRAME" val="{&quot;height&quot;:194.4,&quot;left&quot;:50.4,&quot;top&quot;:108,&quot;width&quot;:633.6}"/>
</p:tagLst>
</file>

<file path=ppt/tags/tag15.xml><?xml version="1.0" encoding="utf-8"?>
<p:tagLst xmlns:p="http://schemas.openxmlformats.org/presentationml/2006/main">
  <p:tag name="KSO_WM_DIAGRAM_VIRTUALLY_FRAME" val="{&quot;height&quot;:194.4,&quot;left&quot;:50.4,&quot;top&quot;:108,&quot;width&quot;:633.6}"/>
</p:tagLst>
</file>

<file path=ppt/tags/tag16.xml><?xml version="1.0" encoding="utf-8"?>
<p:tagLst xmlns:p="http://schemas.openxmlformats.org/presentationml/2006/main">
  <p:tag name="KSO_WM_DIAGRAM_VIRTUALLY_FRAME" val="{&quot;height&quot;:194.4,&quot;left&quot;:50.4,&quot;top&quot;:108,&quot;width&quot;:633.6}"/>
</p:tagLst>
</file>

<file path=ppt/tags/tag17.xml><?xml version="1.0" encoding="utf-8"?>
<p:tagLst xmlns:p="http://schemas.openxmlformats.org/presentationml/2006/main">
  <p:tag name="KSO_WM_DIAGRAM_VIRTUALLY_FRAME" val="{&quot;height&quot;:194.4,&quot;left&quot;:50.4,&quot;top&quot;:108,&quot;width&quot;:633.6}"/>
</p:tagLst>
</file>

<file path=ppt/tags/tag18.xml><?xml version="1.0" encoding="utf-8"?>
<p:tagLst xmlns:p="http://schemas.openxmlformats.org/presentationml/2006/main">
  <p:tag name="KSO_WM_DIAGRAM_VIRTUALLY_FRAME" val="{&quot;height&quot;:194.4,&quot;left&quot;:50.4,&quot;top&quot;:108,&quot;width&quot;:633.6}"/>
</p:tagLst>
</file>

<file path=ppt/tags/tag19.xml><?xml version="1.0" encoding="utf-8"?>
<p:tagLst xmlns:p="http://schemas.openxmlformats.org/presentationml/2006/main">
  <p:tag name="KSO_WM_DIAGRAM_VIRTUALLY_FRAME" val="{&quot;height&quot;:194.4,&quot;left&quot;:50.4,&quot;top&quot;:108,&quot;width&quot;:633.6}"/>
</p:tagLst>
</file>

<file path=ppt/tags/tag20.xml><?xml version="1.0" encoding="utf-8"?>
<p:tagLst xmlns:p="http://schemas.openxmlformats.org/presentationml/2006/main">
  <p:tag name="KSO_WM_DIAGRAM_VIRTUALLY_FRAME" val="{&quot;height&quot;:194.4,&quot;left&quot;:50.4,&quot;top&quot;:108,&quot;width&quot;:633.6}"/>
</p:tagLst>
</file>

<file path=ppt/tags/tag21.xml><?xml version="1.0" encoding="utf-8"?>
<p:tagLst xmlns:p="http://schemas.openxmlformats.org/presentationml/2006/main">
  <p:tag name="KSO_WM_DIAGRAM_VIRTUALLY_FRAME" val="{&quot;height&quot;:194.4,&quot;left&quot;:50.4,&quot;top&quot;:108,&quot;width&quot;:633.6}"/>
</p:tagLst>
</file>

<file path=ppt/tags/tag22.xml><?xml version="1.0" encoding="utf-8"?>
<p:tagLst xmlns:p="http://schemas.openxmlformats.org/presentationml/2006/main">
  <p:tag name="KSO_WM_DIAGRAM_VIRTUALLY_FRAME" val="{&quot;height&quot;:194.4,&quot;left&quot;:50.4,&quot;top&quot;:108,&quot;width&quot;:633.6}"/>
</p:tagLst>
</file>

<file path=ppt/tags/tag23.xml><?xml version="1.0" encoding="utf-8"?>
<p:tagLst xmlns:p="http://schemas.openxmlformats.org/presentationml/2006/main">
  <p:tag name="KSO_WM_DIAGRAM_VIRTUALLY_FRAME" val="{&quot;height&quot;:194.4,&quot;left&quot;:50.4,&quot;top&quot;:108,&quot;width&quot;:633.6}"/>
</p:tagLst>
</file>

<file path=ppt/tags/tag24.xml><?xml version="1.0" encoding="utf-8"?>
<p:tagLst xmlns:p="http://schemas.openxmlformats.org/presentationml/2006/main">
  <p:tag name="KSO_WM_DIAGRAM_VIRTUALLY_FRAME" val="{&quot;height&quot;:194.4,&quot;left&quot;:50.4,&quot;top&quot;:108,&quot;width&quot;:633.6}"/>
</p:tagLst>
</file>

<file path=ppt/tags/tag25.xml><?xml version="1.0" encoding="utf-8"?>
<p:tagLst xmlns:p="http://schemas.openxmlformats.org/presentationml/2006/main">
  <p:tag name="KSO_WM_DIAGRAM_VIRTUALLY_FRAME" val="{&quot;height&quot;:194.4,&quot;left&quot;:50.4,&quot;top&quot;:108,&quot;width&quot;:633.6}"/>
</p:tagLst>
</file>

<file path=ppt/tags/tag26.xml><?xml version="1.0" encoding="utf-8"?>
<p:tagLst xmlns:p="http://schemas.openxmlformats.org/presentationml/2006/main">
  <p:tag name="KSO_WM_DIAGRAM_VIRTUALLY_FRAME" val="{&quot;height&quot;:194.4,&quot;left&quot;:50.4,&quot;top&quot;:108,&quot;width&quot;:633.6}"/>
</p:tagLst>
</file>

<file path=ppt/tags/tag27.xml><?xml version="1.0" encoding="utf-8"?>
<p:tagLst xmlns:p="http://schemas.openxmlformats.org/presentationml/2006/main">
  <p:tag name="KSO_WM_DIAGRAM_VIRTUALLY_FRAME" val="{&quot;height&quot;:194.4,&quot;left&quot;:50.4,&quot;top&quot;:108,&quot;width&quot;:633.6}"/>
</p:tagLst>
</file>

<file path=ppt/tags/tag28.xml><?xml version="1.0" encoding="utf-8"?>
<p:tagLst xmlns:p="http://schemas.openxmlformats.org/presentationml/2006/main">
  <p:tag name="KSO_WM_DIAGRAM_VIRTUALLY_FRAME" val="{&quot;height&quot;:194.4,&quot;left&quot;:50.4,&quot;top&quot;:108,&quot;width&quot;:633.6}"/>
</p:tagLst>
</file>

<file path=ppt/tags/tag29.xml><?xml version="1.0" encoding="utf-8"?>
<p:tagLst xmlns:p="http://schemas.openxmlformats.org/presentationml/2006/main">
  <p:tag name="KSO_WM_DIAGRAM_VIRTUALLY_FRAME" val="{&quot;height&quot;:266.4,&quot;left&quot;:43.2,&quot;top&quot;:79.2,&quot;width&quot;:633.6}"/>
</p:tagLst>
</file>

<file path=ppt/tags/tag30.xml><?xml version="1.0" encoding="utf-8"?>
<p:tagLst xmlns:p="http://schemas.openxmlformats.org/presentationml/2006/main">
  <p:tag name="KSO_WM_DIAGRAM_VIRTUALLY_FRAME" val="{&quot;height&quot;:266.4,&quot;left&quot;:43.2,&quot;top&quot;:79.2,&quot;width&quot;:633.6}"/>
</p:tagLst>
</file>

<file path=ppt/tags/tag31.xml><?xml version="1.0" encoding="utf-8"?>
<p:tagLst xmlns:p="http://schemas.openxmlformats.org/presentationml/2006/main">
  <p:tag name="KSO_WM_DIAGRAM_VIRTUALLY_FRAME" val="{&quot;height&quot;:266.4,&quot;left&quot;:43.2,&quot;top&quot;:79.2,&quot;width&quot;:633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4677</Words>
  <Application>WPS Presentation</Application>
  <PresentationFormat>On-screen Show (16:9)</PresentationFormat>
  <Paragraphs>172</Paragraphs>
  <Slides>14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SimSun</vt:lpstr>
      <vt:lpstr>Wingdings</vt:lpstr>
      <vt:lpstr>Montserrat</vt:lpstr>
      <vt:lpstr>Liberation Mono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Méthodologie d'Analyse : CTN-0001 &amp; CTN-0002</dc:title>
  <dc:creator>Abdo MIRGAN - Groupe 5</dc:creator>
  <dc:subject>PptxGenJS Presentation</dc:subject>
  <cp:lastModifiedBy>ABDO MIRGAN</cp:lastModifiedBy>
  <cp:revision>13</cp:revision>
  <dcterms:created xsi:type="dcterms:W3CDTF">2025-12-15T12:02:00Z</dcterms:created>
  <dcterms:modified xsi:type="dcterms:W3CDTF">2025-12-29T11:18:09Z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06CA567C50AB46D9B3365E23C8A7AFD2_13</vt:lpwstr>
  </property>
  <property fmtid="{D5CDD505-2E9C-101B-9397-08002B2CF9AE}" pid="3" name="KSOProductBuildVer">
    <vt:lpwstr>1036-12.2.0.23196</vt:lpwstr>
  </property>
</Properties>
</file>